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PT Serif Bold"/>
      <p:regular r:id="rId201323"/>
    </p:embeddedFont>
    <p:embeddedFont>
      <p:font typeface="PT Serif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5.png"/><Relationship Id="rId8" Type="http://schemas.openxmlformats.org/officeDocument/2006/relationships/image" Target="../media/image-3-6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19461"/>
            <a:ext cx="4722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Behavior Analysis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79722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3.9K customers | $59.76 average purchase | 3.75 rating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7669"/>
            <a:ext cx="4722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Highlights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96119" y="967457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customer dataset with 3,900 rows and 18 columns, covering customer demographics, purchase details, and shopping behavior.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461567"/>
            <a:ext cx="4722763" cy="1405235"/>
          </a:xfrm>
          <a:prstGeom prst="roundRect">
            <a:avLst>
              <a:gd name="adj" fmla="val 1324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1461567"/>
            <a:ext cx="2361381" cy="7026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20092" y="1585540"/>
            <a:ext cx="211343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Rows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0092" y="1854175"/>
            <a:ext cx="21134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records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57500" y="1461567"/>
            <a:ext cx="2361381" cy="7026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1461567"/>
            <a:ext cx="14288" cy="702618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2981474" y="1585540"/>
            <a:ext cx="211343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Columns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81474" y="1854175"/>
            <a:ext cx="21134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fields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2164184"/>
            <a:ext cx="4722763" cy="7026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496119" y="2164184"/>
            <a:ext cx="4722763" cy="14288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620092" y="2288158"/>
            <a:ext cx="447481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0092" y="2556793"/>
            <a:ext cx="44748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in Review Rating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6119" y="2988841"/>
            <a:ext cx="2307134" cy="91722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380" y="3127102"/>
            <a:ext cx="203061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Demographics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4380" y="3395737"/>
            <a:ext cx="20306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and other profile attributes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11748" y="2988841"/>
            <a:ext cx="2307134" cy="91722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50009" y="3127102"/>
            <a:ext cx="203061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Purchase Details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050009" y="3395737"/>
            <a:ext cx="20306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value, product information, and transaction data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96119" y="4014564"/>
            <a:ext cx="4722763" cy="731193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380" y="4152826"/>
            <a:ext cx="444624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Shopping Behavior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34380" y="4421460"/>
            <a:ext cx="444624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Frequency, preferences, and engagement patterns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1886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Preparation Process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68276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772469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1881411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Loading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6119" y="2199010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568276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60601" y="1772469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5"/>
          <p:cNvSpPr/>
          <p:nvPr/>
        </p:nvSpPr>
        <p:spPr>
          <a:xfrm>
            <a:off x="3260601" y="1881411"/>
            <a:ext cx="2622724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EDA (Exploratory Data Analysis)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260601" y="2431554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df.info() and .describe() for summary statistics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568276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25083" y="1772469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8"/>
          <p:cNvSpPr/>
          <p:nvPr/>
        </p:nvSpPr>
        <p:spPr>
          <a:xfrm>
            <a:off x="6025083" y="1881411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025083" y="2199010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Handled missing values (37 in Review Rating), imputed using median by category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50915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6119" y="3355107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1"/>
          <p:cNvSpPr/>
          <p:nvPr/>
        </p:nvSpPr>
        <p:spPr>
          <a:xfrm>
            <a:off x="496119" y="3464049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96119" y="378164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age_group and purchase_frequency_days columns, standardized to snake_case, verified data consistency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2842" y="3150915"/>
            <a:ext cx="141759" cy="14175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642842" y="3355107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4"/>
          <p:cNvSpPr/>
          <p:nvPr/>
        </p:nvSpPr>
        <p:spPr>
          <a:xfrm>
            <a:off x="4642842" y="3464049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Engineering with PostgreSQL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642842" y="378164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Python to PostgreSQL and loaded cleaned DataFrame into database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08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Who Are They? The Demographic Landscape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18876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34517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716807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Segment Highlights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749701" y="209111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244546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 represent the largest number of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7806"/>
            <a:ext cx="4722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Revenue by Gender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1105570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75191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157890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878137"/>
            <a:ext cx="2891954" cy="16490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6119" y="3686621"/>
            <a:ext cx="4722763" cy="415975"/>
          </a:xfrm>
          <a:prstGeom prst="roundRect">
            <a:avLst>
              <a:gd name="adj" fmla="val 51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0881" y="3691384"/>
            <a:ext cx="4713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42640" y="3781202"/>
            <a:ext cx="48869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96119" y="426206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significantly higher total revenue ($157,890) compared to female customers ($75,191).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4692"/>
            <a:ext cx="4722763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Purchase Pulse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25119" y="1044848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behavior is the strongest signal of customer health. Our analysis reveals a powerful concentration of value in a small but critical group.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925119" y="1695748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42%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3925119" y="2317254"/>
            <a:ext cx="227826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Repeat Purchase Rate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25119" y="2622277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Nearly half of all transactions come from returning customers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69621" y="1695748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82%</a:t>
            </a:r>
            <a:endParaRPr lang="en-US" sz="3550" dirty="0"/>
          </a:p>
        </p:txBody>
      </p:sp>
      <p:sp>
        <p:nvSpPr>
          <p:cNvPr id="9" name="Text 6"/>
          <p:cNvSpPr/>
          <p:nvPr/>
        </p:nvSpPr>
        <p:spPr>
          <a:xfrm>
            <a:off x="6369621" y="2317254"/>
            <a:ext cx="227826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Revenue from Champions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69621" y="2622277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small elite segment drives the vast majority of total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47370" y="3389561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3.9K</a:t>
            </a:r>
            <a:endParaRPr lang="en-US" sz="3550" dirty="0"/>
          </a:p>
        </p:txBody>
      </p:sp>
      <p:sp>
        <p:nvSpPr>
          <p:cNvPr id="12" name="Text 9"/>
          <p:cNvSpPr/>
          <p:nvPr/>
        </p:nvSpPr>
        <p:spPr>
          <a:xfrm>
            <a:off x="5147370" y="4011067"/>
            <a:ext cx="227826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Unique Customers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47370" y="4316090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 base across all segments and tiers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68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Subscription Dynamics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473994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status is a direct proxy for customer intent. Active subscribers demonstrate significantly higher Average Order Value (AOV) compared to trial and churned users — making retention the highest-leverage growth lever.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767533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FFDE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2982590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293050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Finding: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Active subscribers make up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71%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base, while non-subscribers account for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505917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157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Top 5 Products by Rating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528837"/>
            <a:ext cx="8151763" cy="2448223"/>
          </a:xfrm>
          <a:prstGeom prst="roundRect">
            <a:avLst>
              <a:gd name="adj" fmla="val 8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53359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640" y="162341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 Purchased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16140" y="162341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Product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0881" y="194004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2640" y="202986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16140" y="202986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34649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640" y="243631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6140" y="243631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275294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640" y="284276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6140" y="284276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315939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640" y="324921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140" y="324921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0881" y="3565847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2640" y="365566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6140" y="365566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119" y="413652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 and accessories dominate the top-rated products, with Gloves leading at 3.86 average rating.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93676"/>
            <a:ext cx="4722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Shipping Type Comparison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496119" y="1871439"/>
            <a:ext cx="4722763" cy="1238399"/>
          </a:xfrm>
          <a:prstGeom prst="roundRect">
            <a:avLst>
              <a:gd name="adj" fmla="val 17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96119" y="2285033"/>
            <a:ext cx="4722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696245"/>
            <a:ext cx="4722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1966020"/>
            <a:ext cx="2530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99259" y="1966020"/>
            <a:ext cx="2530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2640" y="2377232"/>
            <a:ext cx="2530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99259" y="2377232"/>
            <a:ext cx="2530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58.46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2640" y="2788444"/>
            <a:ext cx="2530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99259" y="2788444"/>
            <a:ext cx="2530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60.48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26930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slightly more ($60.48) compared to standard shipping customers ($58.46), suggesting premium service preference correlates with higher spending.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Behavioral Drivers: The Discount Effect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2409379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Promo Sensitivity at a Glance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561034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40.2% of all transactions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involve a promotional code or discount. While promos drive short-term volume, heavy discount users show measurably lower long-term loyalty scores.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62994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promo users: lower AOV over time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Full-price buyers: 3x higher retention at 6 months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discounting can convert without eroding value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19882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1662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Subscribers vs. Non-Subscribers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2020342"/>
            <a:ext cx="8151763" cy="1238399"/>
          </a:xfrm>
          <a:prstGeom prst="roundRect">
            <a:avLst>
              <a:gd name="adj" fmla="val 17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43393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84514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36552" y="2020342"/>
            <a:ext cx="8860" cy="123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74" y="2020342"/>
            <a:ext cx="8860" cy="123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07597" y="2020342"/>
            <a:ext cx="8860" cy="123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89" y="2114922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Status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80692" y="2114922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16214" y="2114922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51737" y="2114922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89" y="2526134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80692" y="2526134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1053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6214" y="2526134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59.49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51737" y="2526134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62645.00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89" y="2937346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80692" y="2937346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2847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6214" y="2937346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59.87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51737" y="2937346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170436.00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119" y="341821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While non-subscribers have higher average spend ($59.87), subscribers represent a smaller but engaged segment. Non-subscribers drive 73% of total revenue due to their larger population.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567"/>
            <a:ext cx="81517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Customer Journey 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832098"/>
            <a:ext cx="8608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touchpoint is an opportunity — or a risk. Mapping the full path from awareness to advocacy reveals the critical moments that determine long-term customer value.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31453"/>
            <a:ext cx="8151763" cy="3521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1329" y="3644681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Consideration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441329" y="3938860"/>
            <a:ext cx="1210397" cy="29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and compare options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49316" y="3644681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Retention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549316" y="3938860"/>
            <a:ext cx="1210397" cy="29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engagement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193" y="1349177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Awareness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1193" y="1643356"/>
            <a:ext cx="1210397" cy="29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brand contact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53279" y="1349177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Advocacy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053279" y="1643356"/>
            <a:ext cx="1210397" cy="29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Referrals and loyalty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14612" y="1349177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First Purchase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014612" y="1643356"/>
            <a:ext cx="1210397" cy="14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Conversion event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119" y="4624536"/>
            <a:ext cx="8608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highest-impact intervention points are at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First Purchase → Retention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Retention → Advocacy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where targeted engagement programs yield the greatest ROI.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4844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Discount-Dependent Products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403524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81711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22832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63954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5075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46196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403524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640" y="149810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 Purchased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16140" y="149810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 Rate (%)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640" y="190931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6140" y="190931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640" y="232052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6140" y="232052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640" y="2731740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6140" y="2731740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640" y="3142952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6140" y="3142952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640" y="355416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6140" y="355416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119" y="403502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is the most discount-dependent product with 50% of purchases involving a discount, suggesting price sensitivity in this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9459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Conclusion: From Insights to Impact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3813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analysis surfaces a clear path to higher retention, smarter marketing spend, and stronger customer lifetime value. The data is ready — execution is the next step.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2151236"/>
            <a:ext cx="4107135" cy="2202731"/>
          </a:xfrm>
          <a:prstGeom prst="roundRect">
            <a:avLst>
              <a:gd name="adj" fmla="val 965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2292995"/>
            <a:ext cx="382361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Discoveries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35781" y="2667298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3.9K customers in the dashboard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$59.76 average purchase amount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3.75 average rating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71% subscription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292995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Call to Action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49701" y="266729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the new behavioral segmentation framework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next quarter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Priority actions: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3248471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Champion retention pilot program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Redesign promo strategy for targeted segments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 high-return product categories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up automated re-engagement triggers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2026-07-08T12:11:55Z</dcterms:created>
  <dcterms:modified xsi:type="dcterms:W3CDTF">2026-07-08T12:11:55Z</dcterms:modified>
</cp:coreProperties>
</file>